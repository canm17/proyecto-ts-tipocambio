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00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Explicar: el eje X es la fecha (2022 a 2025), el eje Y es cuántos guaraníes cuesta un dólar. Señalar la subida sostenida hasta fines de 2024 y la caída durante 2025 -- ese cambio de tendencia es clave para todo el análisis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ARIMA(p,d,q): p = cuántos días pasados usa (3), d = veces que se resta el valor anterior para quitar la tendencia (1 vez), q = cuántos errores pasados corrige (3). El orden no se eligió a mano: se probaron varias combinaciones y se elige la de menor AIC.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muestra qué tan importante fue cada variable para el modelo (barras más largas = más importante). "lag_1" es el valor del día anterior, "roll_mean_5" es el promedio de los últimos 5 días. Recursivo significa que, para pronosticar el día 2, usa su propia predicción del día 1 (no el dato real), y así en cadena hasta el día 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 negra = valor real del dólar. Línea azul = predicción de ARIMA, línea naranja = predicción de XGBoost. La banda celeste es el rango donde ARIMA espera, con 95% de confianza, que caiga el valor real -- pero el valor real solo cayó ahí el 85% de las veces, no el 95% esperado: el modelo es un poco más incierto de lo que él mismo cree.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RMSE y MAE: error promedio en guaraníes (más bajo es mejor). MAPE: error en porcentaje. R²: qué tan bien explica el modelo la variación real -- cerca de 1 es muy bueno, cerca de 0 o negativo (como el -0.42 de XGBoost) significa que predice peor que simplemente usar el promedio.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= valor real menos la predicción (positivo = el modelo predijo de menos; negativo = predijo de más). Los gráficos de la izquierda muestran cómo evoluciona ese error en el tiempo; los de la derecha, cuántas veces se repite cada magnitud de error. Fijarse que el error de XGBoost crece mucho hacia el final (últimos 15 días).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7315200" cy="7315200"/>
          </a:xfrm>
          <a:prstGeom prst="ellipse">
            <a:avLst/>
          </a:prstGeom>
          <a:solidFill>
            <a:srgbClr val="6E142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5486400" cy="5486400"/>
          </a:xfrm>
          <a:prstGeom prst="ellipse">
            <a:avLst/>
          </a:prstGeom>
          <a:solidFill>
            <a:srgbClr val="9A3B4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FACULTAD DE INGENIERÍA — UNIVERSIDAD NACIONAL DE ASUNCIÓN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Predicción del Tipo de Cambio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USD / Guaraní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D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Temporales — ARIMA vs. XGBoost con datos oficiales del BCP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Autores: César Nú</a:t>
            </a:r>
            <a:r>
              <a:rPr lang="es-E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ñez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7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Proyecto Final de Series Temporales — Julio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¿Por qué predecir el tipo de cambio?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7F1E8"/>
          </a:solidFill>
          <a:ln w="15875">
            <a:solidFill>
              <a:srgbClr val="9A3B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USD $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Créditos en dólares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Muchos préstamos en Paraguay están en dólares; el cambio define la cuota en guaraníes.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7F1E8"/>
          </a:solidFill>
          <a:ln w="15875">
            <a:solidFill>
              <a:srgbClr val="9A3B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828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₲ ↕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2628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Planificación financiera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154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Empresas y hogares necesitan anticipar el valor del dólar para presupuestar.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7F1E8"/>
          </a:solidFill>
          <a:ln w="15875">
            <a:solidFill>
              <a:srgbClr val="9A3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828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📈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 predecible, con quiebres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154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Baja volatilidad diaria, pero con cambios de tendencia que desafían a los modelos.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6E142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377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Objetivo: comparar un modelo estadístico y uno de Machine Learning para pronosticar el tipo de cambio USD/₲ con datos oficiales del BCP.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Origen y Preparación de los Datos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7F1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Fuente: </a:t>
            </a:r>
            <a:r>
              <a:rPr lang="en-US" sz="1700" dirty="0">
                <a:solidFill>
                  <a:srgbClr val="2B0A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Banco Central del Paraguay — Cotización Referencial Histórica (planillas oficiales)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6E14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7614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archivos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2761488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Una planilla oficial por año (2022, 2023, 2024 y 2025), formato día del mes x 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502920" cy="502920"/>
          </a:xfrm>
          <a:prstGeom prst="ellipse">
            <a:avLst/>
          </a:prstGeom>
          <a:solidFill>
            <a:srgbClr val="6E14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Limpieza de formato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94760" y="365760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Números en formato paraguayo ("7.037,83") convertidos a formato numérico estándar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81144"/>
            <a:ext cx="502920" cy="502920"/>
          </a:xfrm>
          <a:prstGeom prst="ellipse">
            <a:avLst/>
          </a:prstGeom>
          <a:solidFill>
            <a:srgbClr val="6E142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81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5537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Días sin cotización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94760" y="455371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Feriados marcados como "ND" tratados como faltantes e imputados por interpolación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477256"/>
            <a:ext cx="502920" cy="502920"/>
          </a:xfrm>
          <a:prstGeom prst="ellipse">
            <a:avLst/>
          </a:prstGeom>
          <a:solidFill>
            <a:srgbClr val="6E142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477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544982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Unificación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94760" y="5449824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 4 planillas se combinan en una sola serie diaria continua, ordenada por fecha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Final: Serie Lista para Modelar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7F1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días hábiles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5087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7F1E8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5727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43400" y="22128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años (2022-25)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7F1E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5727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38160" y="22128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duplicados / nulos</a:t>
            </a:r>
            <a:endParaRPr lang="en-US" sz="1400" dirty="0"/>
          </a:p>
        </p:txBody>
      </p:sp>
      <p:pic>
        <p:nvPicPr>
          <p:cNvPr id="13" name="Image 0" descr="/home/claude/proyecto_ts_pyg/results/01_serie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71800"/>
            <a:ext cx="10149840" cy="3474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Modelo Estadístico: ARIMA(3,1,3)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29260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Resultado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Orden (p,d,q)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Elegido por AIC -&gt; (3,1,3)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Diferenciación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d=1 (ADF confirma estacionariedad)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Ljung-Box (rezago 10)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 autocorrelación significativa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Horizonte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Pronóstico estático a 60 días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00200"/>
            <a:ext cx="4389120" cy="2926080"/>
          </a:xfrm>
          <a:prstGeom prst="roundRect">
            <a:avLst>
              <a:gd name="adj" fmla="val 3125"/>
            </a:avLst>
          </a:prstGeom>
          <a:solidFill>
            <a:srgbClr val="F7F1E8"/>
          </a:solidFill>
          <a:ln/>
        </p:spPr>
      </p:sp>
      <p:sp>
        <p:nvSpPr>
          <p:cNvPr id="4" name="Text 3"/>
          <p:cNvSpPr/>
          <p:nvPr/>
        </p:nvSpPr>
        <p:spPr>
          <a:xfrm>
            <a:off x="7223760" y="2377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φ(B)(1−B) yₜ = θ(B) εₜ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06640" y="3108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Autorregresión + diferenciación + media móvil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Learning: XGBoost Recursivo</a:t>
            </a:r>
            <a:endParaRPr lang="en-US" sz="3200" dirty="0"/>
          </a:p>
        </p:txBody>
      </p:sp>
      <p:pic>
        <p:nvPicPr>
          <p:cNvPr id="4" name="Image 0" descr="/home/claude/proyecto_ts_pyg/results/02_importancia_features_x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17320"/>
            <a:ext cx="740664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3566160" cy="4937760"/>
          </a:xfrm>
          <a:prstGeom prst="roundRect">
            <a:avLst>
              <a:gd name="adj" fmla="val 2564"/>
            </a:avLst>
          </a:prstGeom>
          <a:solidFill>
            <a:srgbClr val="6E1423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Rezagos: 1, 2, 3, 5, 10, 21 días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Medias móviles y volatilidad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Pronóstico recursivo a 60 días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4983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Sin usar datos reales futuros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Predicciones vs. Valores Reales</a:t>
            </a:r>
            <a:endParaRPr lang="en-US" sz="3200" dirty="0"/>
          </a:p>
        </p:txBody>
      </p:sp>
      <p:pic>
        <p:nvPicPr>
          <p:cNvPr id="4" name="Image 0" descr="/home/claude/proyecto_ts_pyg/results/03_pred_v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Banda celeste = intervalo de confianza 95% de ARIMA  ·  cobertura empírica real: 85%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Comparación de Métricas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737360"/>
          <a:ext cx="8686800" cy="329184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Métrica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ARIMA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153.06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213.20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136.07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146.50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MAPE (%)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1.97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2.17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B0A1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-0.42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737360" y="5212080"/>
            <a:ext cx="8686800" cy="914400"/>
          </a:xfrm>
          <a:prstGeom prst="roundRect">
            <a:avLst>
              <a:gd name="adj" fmla="val 10000"/>
            </a:avLst>
          </a:prstGeom>
          <a:solidFill>
            <a:srgbClr val="F7F1E8"/>
          </a:solidFill>
          <a:ln/>
        </p:spPr>
      </p:sp>
      <p:sp>
        <p:nvSpPr>
          <p:cNvPr id="6" name="Text 3"/>
          <p:cNvSpPr/>
          <p:nvPr/>
        </p:nvSpPr>
        <p:spPr>
          <a:xfrm>
            <a:off x="1737360" y="52120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ARIMA gana en todas las métricas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14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E14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Diagnóstico de Residuales</a:t>
            </a:r>
            <a:endParaRPr lang="en-US" sz="3200" dirty="0"/>
          </a:p>
        </p:txBody>
      </p:sp>
      <p:pic>
        <p:nvPicPr>
          <p:cNvPr id="4" name="Image 0" descr="/home/claude/proyecto_ts_pyg/results/03_analisis_residu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71600"/>
            <a:ext cx="978408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 absoluto XGBoost: 55 → 387 (60 días)  ·  Error absoluto ARIMA: 117 → 163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572000"/>
            <a:ext cx="5486400" cy="5486400"/>
          </a:xfrm>
          <a:prstGeom prst="ellipse">
            <a:avLst/>
          </a:prstGeom>
          <a:solidFill>
            <a:srgbClr val="6E1423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Conclusiones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9768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Hallazgo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Modelo ganador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ARIMA (mismo horizonte, 60 días)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Causa clave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 recursivo de XGBoost se acumula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Quiebre de tendencia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+289 → -1.367 ₲/año en 2025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Calibración ARIMA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IC 95% cubre solo 85% real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Trabajo futuro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GARCH, variables macro, walk-forward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3B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858000" cy="6858000"/>
          </a:xfrm>
          <a:prstGeom prst="ellipse">
            <a:avLst/>
          </a:prstGeom>
          <a:solidFill>
            <a:srgbClr val="6E142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9A3B4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¡Muchas Gracias!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Predicción del Tipo de Cambio USD/Guaraní — Facultad de Ingeniería, UNA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D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[Nombre Integrante 1]  ·  [Nombre Integrante 2]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0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943</Words>
  <Application>Microsoft Office PowerPoint</Application>
  <PresentationFormat>Panorámica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Cesar Nuñez</cp:lastModifiedBy>
  <cp:revision>2</cp:revision>
  <dcterms:created xsi:type="dcterms:W3CDTF">2026-07-20T13:19:19Z</dcterms:created>
  <dcterms:modified xsi:type="dcterms:W3CDTF">2026-07-20T13:48:44Z</dcterms:modified>
</cp:coreProperties>
</file>