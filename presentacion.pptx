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Explicar: el eje X es la fecha (2022 a 2025), el eje Y es cuántos guaraníes cuesta un dólar. Señalar la subida sostenida hasta fines de 2024 y la caída durante 2025 -- ese cambio de tendencia es clave para todo el análisis posterior.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ARIMA(p,d,q): p = cuántos días pasados usa (3), d = veces que se resta el valor anterior para quitar la tendencia (1 vez), q = cuántos errores pasados corrige (3). El orden no se eligió a mano: se probaron varias combinaciones y se elige la de menor AIC.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gráfico muestra qué tan importante fue cada variable para el modelo (barras más largas = más importante). "lag_1" es el valor del día anterior, "roll_mean_5" es el promedio de los últimos 5 días. Recursivo significa que, para pronosticar el día 2, usa su propia predicción del día 1 (no el dato real), y así en cadena hasta el día 60.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Línea negra = valor real del dólar. Línea azul = predicción de ARIMA, línea naranja = predicción de XGBoost. La banda celeste es el rango donde ARIMA espera, con 95% de confianza, que caiga el valor real -- pero el valor real solo cayó ahí el 85% de las veces, no el 95% esperado: el modelo es un poco más incierto de lo que él mismo cree.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RMSE y MAE: error promedio en guaraníes (más bajo es mejor). MAPE: error en porcentaje. R²: qué tan bien explica el modelo la variación real -- cerca de 1 es muy bueno, cerca de 0 o negativo (como el -0.42 de XGBoost) significa que predice peor que simplemente usar el promedio.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Residual = valor real menos la predicción (positivo = el modelo predijo de menos; negativo = predijo de más). Los gráficos de la izquierda muestran cómo evoluciona ese error en el tiempo; los de la derecha, cuántas veces se repite cada magnitud de error. Fijarse que el error de XGBoost crece mucho hacia el final (últimos 15 días).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A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-2286000"/>
            <a:ext cx="7315200" cy="7315200"/>
          </a:xfrm>
          <a:prstGeom prst="ellipse">
            <a:avLst/>
          </a:prstGeom>
          <a:solidFill>
            <a:srgbClr val="6E1423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418320" y="-1371600"/>
            <a:ext cx="5486400" cy="5486400"/>
          </a:xfrm>
          <a:prstGeom prst="ellipse">
            <a:avLst/>
          </a:prstGeom>
          <a:solidFill>
            <a:srgbClr val="9A3B4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6537960"/>
            <a:ext cx="12188952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C9A2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FACULTAD DE INGENIERÍA — UNIVERSIDAD NACIONAL DE ASUNCIÓN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Predicción del Tipo de Cambio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USD / Guaraní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822960" y="4206240"/>
            <a:ext cx="9601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E8D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Series Temporales — ARIMA vs. XGBoost con datos oficiales del BCP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5120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Autores: [Nombre Integrante 1]  ·  [Nombre Integrante 2]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55321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C79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Proyecto Final de Series Temporales — Julio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¿Por qué predecir el tipo de cambio?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66160" cy="2880360"/>
          </a:xfrm>
          <a:prstGeom prst="roundRect">
            <a:avLst>
              <a:gd name="adj" fmla="val 3175"/>
            </a:avLst>
          </a:prstGeom>
          <a:solidFill>
            <a:srgbClr val="F7F1E8"/>
          </a:solidFill>
          <a:ln w="15875">
            <a:solidFill>
              <a:srgbClr val="9A3B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8288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USD $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Créditos en dólares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31546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Muchos préstamos en Paraguay están en dólares; el cambio define la cuota en guaraníes.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566160" cy="2880360"/>
          </a:xfrm>
          <a:prstGeom prst="roundRect">
            <a:avLst>
              <a:gd name="adj" fmla="val 3175"/>
            </a:avLst>
          </a:prstGeom>
          <a:solidFill>
            <a:srgbClr val="F7F1E8"/>
          </a:solidFill>
          <a:ln w="15875">
            <a:solidFill>
              <a:srgbClr val="9A3B4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43400" y="18288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₲ ↕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4526280" y="26060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Planificación financiera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0" y="31546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Empresas y hogares necesitan anticipar el valor del dólar para presupuestar.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566160" cy="2880360"/>
          </a:xfrm>
          <a:prstGeom prst="roundRect">
            <a:avLst>
              <a:gd name="adj" fmla="val 3175"/>
            </a:avLst>
          </a:prstGeom>
          <a:solidFill>
            <a:srgbClr val="F7F1E8"/>
          </a:solidFill>
          <a:ln w="15875">
            <a:solidFill>
              <a:srgbClr val="9A3B4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38160" y="1828800"/>
            <a:ext cx="3566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📈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8321040" y="2606040"/>
            <a:ext cx="320040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Serie predecible, con quiebres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66760" y="3154680"/>
            <a:ext cx="310896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Baja volatilidad diaria, pero con cambios de tendencia que desafían a los modelos.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800600"/>
            <a:ext cx="11064240" cy="1234440"/>
          </a:xfrm>
          <a:prstGeom prst="roundRect">
            <a:avLst>
              <a:gd name="adj" fmla="val 7407"/>
            </a:avLst>
          </a:prstGeom>
          <a:solidFill>
            <a:srgbClr val="6E1423"/>
          </a:solidFill>
          <a:ln/>
        </p:spPr>
      </p:sp>
      <p:sp>
        <p:nvSpPr>
          <p:cNvPr id="17" name="Text 15"/>
          <p:cNvSpPr/>
          <p:nvPr/>
        </p:nvSpPr>
        <p:spPr>
          <a:xfrm>
            <a:off x="822960" y="4937760"/>
            <a:ext cx="105156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Objetivo: comparar un modelo estadístico y uno de Machine Learning para pronosticar el tipo de cambio USD/₲ con datos oficiales del BCP.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11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Origen y Preparación de los Datos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7F1E8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691640"/>
            <a:ext cx="10515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Fuente: </a:t>
            </a:r>
            <a:pPr indent="0" marL="0">
              <a:buNone/>
            </a:pPr>
            <a:r>
              <a:rPr lang="en-US" sz="1700" dirty="0">
                <a:solidFill>
                  <a:srgbClr val="2B0A1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Banco Central del Paraguay — Cotización Referencial Histórica (planillas oficiales)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548640" y="2788920"/>
            <a:ext cx="502920" cy="502920"/>
          </a:xfrm>
          <a:prstGeom prst="ellipse">
            <a:avLst/>
          </a:prstGeom>
          <a:solidFill>
            <a:srgbClr val="6E1423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788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76148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archivos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794760" y="2761488"/>
            <a:ext cx="7818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Una planilla oficial por año (2022, 2023, 2024 y 2025), formato día del mes x mes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685032"/>
            <a:ext cx="502920" cy="502920"/>
          </a:xfrm>
          <a:prstGeom prst="ellipse">
            <a:avLst/>
          </a:prstGeom>
          <a:solidFill>
            <a:srgbClr val="6E1423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68503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234440" y="365760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Limpieza de formato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94760" y="3657600"/>
            <a:ext cx="7818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Números en formato paraguayo ("7.037,83") convertidos a formato numérico estándar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581144"/>
            <a:ext cx="502920" cy="502920"/>
          </a:xfrm>
          <a:prstGeom prst="ellipse">
            <a:avLst/>
          </a:prstGeom>
          <a:solidFill>
            <a:srgbClr val="6E1423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58114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34440" y="4553712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Días sin cotización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794760" y="4553712"/>
            <a:ext cx="7818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Feriados marcados como "ND" tratados como faltantes e imputados por interpolación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48640" y="5477256"/>
            <a:ext cx="502920" cy="502920"/>
          </a:xfrm>
          <a:prstGeom prst="ellipse">
            <a:avLst/>
          </a:prstGeom>
          <a:solidFill>
            <a:srgbClr val="6E1423"/>
          </a:solidFill>
          <a:ln/>
        </p:spPr>
      </p:sp>
      <p:sp>
        <p:nvSpPr>
          <p:cNvPr id="19" name="Text 17"/>
          <p:cNvSpPr/>
          <p:nvPr/>
        </p:nvSpPr>
        <p:spPr>
          <a:xfrm>
            <a:off x="548640" y="54772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234440" y="5449824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Unificación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3794760" y="5449824"/>
            <a:ext cx="7818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Las 4 planillas se combinan en una sola serie diaria continua, ordenada por fecha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11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Dataset Final: Serie Lista para Modelar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7F1E8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572768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996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21284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días hábiles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343400" y="15087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7F1E8"/>
          </a:solidFill>
          <a:ln/>
        </p:spPr>
      </p:sp>
      <p:sp>
        <p:nvSpPr>
          <p:cNvPr id="8" name="Text 6"/>
          <p:cNvSpPr/>
          <p:nvPr/>
        </p:nvSpPr>
        <p:spPr>
          <a:xfrm>
            <a:off x="4343400" y="1572768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343400" y="221284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años (2022-25)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8138160" y="1508760"/>
            <a:ext cx="3566160" cy="1234440"/>
          </a:xfrm>
          <a:prstGeom prst="roundRect">
            <a:avLst>
              <a:gd name="adj" fmla="val 7407"/>
            </a:avLst>
          </a:prstGeom>
          <a:solidFill>
            <a:srgbClr val="F7F1E8"/>
          </a:solidFill>
          <a:ln/>
        </p:spPr>
      </p:sp>
      <p:sp>
        <p:nvSpPr>
          <p:cNvPr id="11" name="Text 9"/>
          <p:cNvSpPr/>
          <p:nvPr/>
        </p:nvSpPr>
        <p:spPr>
          <a:xfrm>
            <a:off x="8138160" y="1572768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38160" y="2212848"/>
            <a:ext cx="35661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duplicados / nulos</a:t>
            </a:r>
            <a:endParaRPr lang="en-US" sz="1400" dirty="0"/>
          </a:p>
        </p:txBody>
      </p:sp>
      <p:pic>
        <p:nvPicPr>
          <p:cNvPr id="13" name="Image 0" descr="/home/claude/proyecto_ts_pyg/results/01_serie_orig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2971800"/>
            <a:ext cx="10149840" cy="3474720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11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Modelo Estadístico: ARIMA(3,1,3)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400800" cy="2926080"/>
        </p:xfrm>
        <a:graphic>
          <a:graphicData uri="http://schemas.openxmlformats.org/drawingml/2006/table">
            <a:tbl>
              <a:tblPr/>
              <a:tblGrid>
                <a:gridCol w="3200400"/>
                <a:gridCol w="3200400"/>
              </a:tblGrid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Aspecto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Resultado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Orden (p,d,q)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Elegido por AIC -&gt; (3,1,3)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Diferenciación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d=1 (ADF confirma estacionariedad)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Ljung-Box (rezago 10)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Sin autocorrelación significativa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Horizonte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Pronóstico estático a 60 días</a:t>
                      </a:r>
                      <a:endParaRPr lang="en-US" sz="16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600200"/>
            <a:ext cx="4389120" cy="2926080"/>
          </a:xfrm>
          <a:prstGeom prst="roundRect">
            <a:avLst>
              <a:gd name="adj" fmla="val 3125"/>
            </a:avLst>
          </a:prstGeom>
          <a:solidFill>
            <a:srgbClr val="F7F1E8"/>
          </a:solidFill>
          <a:ln/>
        </p:spPr>
      </p:sp>
      <p:sp>
        <p:nvSpPr>
          <p:cNvPr id="6" name="Text 3"/>
          <p:cNvSpPr/>
          <p:nvPr/>
        </p:nvSpPr>
        <p:spPr>
          <a:xfrm>
            <a:off x="7223760" y="23774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φ(B)(1−B) yₜ = θ(B) εₜ</a:t>
            </a:r>
            <a:endParaRPr lang="en-US" sz="2200" dirty="0"/>
          </a:p>
        </p:txBody>
      </p:sp>
      <p:sp>
        <p:nvSpPr>
          <p:cNvPr id="7" name="Text 4"/>
          <p:cNvSpPr/>
          <p:nvPr/>
        </p:nvSpPr>
        <p:spPr>
          <a:xfrm>
            <a:off x="7406640" y="310896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Autorregresión + diferenciación + media móvil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11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Machine Learning: XGBoost Recursivo</a:t>
            </a:r>
            <a:endParaRPr lang="en-US" sz="3200" dirty="0"/>
          </a:p>
        </p:txBody>
      </p:sp>
      <p:pic>
        <p:nvPicPr>
          <p:cNvPr id="4" name="Image 0" descr="/home/claude/proyecto_ts_pyg/results/02_importancia_features_xg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06240" y="1417320"/>
            <a:ext cx="7406640" cy="49377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457200" y="1417320"/>
            <a:ext cx="3566160" cy="4937760"/>
          </a:xfrm>
          <a:prstGeom prst="roundRect">
            <a:avLst>
              <a:gd name="adj" fmla="val 2564"/>
            </a:avLst>
          </a:prstGeom>
          <a:solidFill>
            <a:srgbClr val="6E1423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182880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Rezagos: 1, 2, 3, 5, 10, 21 días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68580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Medias móviles y volatilidad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685800" y="393192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Pronóstico recursivo a 60 días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685800" y="498348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•  Sin usar datos reales futuros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11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Predicciones vs. Valores Reales</a:t>
            </a:r>
            <a:endParaRPr lang="en-US" sz="3200" dirty="0"/>
          </a:p>
        </p:txBody>
      </p:sp>
      <p:pic>
        <p:nvPicPr>
          <p:cNvPr id="4" name="Image 0" descr="/home/claude/proyecto_ts_pyg/results/03_pred_vs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11247120" cy="42976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Banda celeste = intervalo de confianza 95% de ARIMA  ·  cobertura empírica real: 85%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11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Comparación de Métricas</a:t>
            </a:r>
            <a:endParaRPr lang="en-US" sz="3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737360" y="1737360"/>
          <a:ext cx="8686800" cy="3291840"/>
        </p:xfrm>
        <a:graphic>
          <a:graphicData uri="http://schemas.openxmlformats.org/drawingml/2006/table">
            <a:tbl>
              <a:tblPr/>
              <a:tblGrid>
                <a:gridCol w="2895600"/>
                <a:gridCol w="2895600"/>
                <a:gridCol w="2895600"/>
              </a:tblGrid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Métrica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ARIMA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XGBoost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RMSE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153.06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213.20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MAE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136.07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146.50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MAPE (%)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1.97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2.17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R²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0.27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2000" dirty="0">
                          <a:solidFill>
                            <a:srgbClr val="2B0A10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-0.42</a:t>
                      </a:r>
                      <a:endParaRPr lang="en-US" sz="20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1737360" y="5212080"/>
            <a:ext cx="8686800" cy="914400"/>
          </a:xfrm>
          <a:prstGeom prst="roundRect">
            <a:avLst>
              <a:gd name="adj" fmla="val 10000"/>
            </a:avLst>
          </a:prstGeom>
          <a:solidFill>
            <a:srgbClr val="F7F1E8"/>
          </a:solidFill>
          <a:ln/>
        </p:spPr>
      </p:sp>
      <p:sp>
        <p:nvSpPr>
          <p:cNvPr id="6" name="Text 3"/>
          <p:cNvSpPr/>
          <p:nvPr/>
        </p:nvSpPr>
        <p:spPr>
          <a:xfrm>
            <a:off x="1737360" y="5212080"/>
            <a:ext cx="8686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ARIMA gana en todas las métricas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11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6E1423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E142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Diagnóstico de Residuales</a:t>
            </a:r>
            <a:endParaRPr lang="en-US" sz="3200" dirty="0"/>
          </a:p>
        </p:txBody>
      </p:sp>
      <p:pic>
        <p:nvPicPr>
          <p:cNvPr id="4" name="Image 0" descr="/home/claude/proyecto_ts_pyg/results/03_analisis_residua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1371600"/>
            <a:ext cx="9784080" cy="44348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Error absoluto XGBoost: 55 → 387 (60 días)  ·  Error absoluto ARIMA: 117 → 163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11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A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743200" y="4572000"/>
            <a:ext cx="5486400" cy="5486400"/>
          </a:xfrm>
          <a:prstGeom prst="ellipse">
            <a:avLst/>
          </a:prstGeom>
          <a:solidFill>
            <a:srgbClr val="6E1423">
              <a:alpha val="5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537960"/>
            <a:ext cx="12188952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5029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Conclusiones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429768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716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Hallazgo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3B4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Resultado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A3B48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Modelo ganador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ARIMA (mismo horizonte, 60 días)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Causa clave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Error recursivo de XGBoost se acumula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Quiebre de tendencia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+289 → -1.367 ₲/año en 2025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Calibración ARIMA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IC 95% cubre solo 85% real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Trabajo futuro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GARCH, variables macro, walk-forward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A3B4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E1423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11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A0E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-1828800"/>
            <a:ext cx="6858000" cy="6858000"/>
          </a:xfrm>
          <a:prstGeom prst="ellipse">
            <a:avLst/>
          </a:prstGeom>
          <a:solidFill>
            <a:srgbClr val="6E1423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2286000" y="3657600"/>
            <a:ext cx="5486400" cy="5486400"/>
          </a:xfrm>
          <a:prstGeom prst="ellipse">
            <a:avLst/>
          </a:prstGeom>
          <a:solidFill>
            <a:srgbClr val="9A3B48">
              <a:alpha val="6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3246120"/>
            <a:ext cx="12188952" cy="54864"/>
          </a:xfrm>
          <a:prstGeom prst="rect">
            <a:avLst/>
          </a:prstGeom>
          <a:solidFill>
            <a:srgbClr val="C9A227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¡Muchas Gracias!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C9A227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Predicción del Tipo de Cambio USD/Guaraní — Facultad de Ingeniería, UNA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E8D9B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[Nombre Integrante 1]  ·  [Nombre Integrante 2]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1183112" y="644652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C504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 / 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2026-07-20T13:19:19Z</dcterms:created>
  <dcterms:modified xsi:type="dcterms:W3CDTF">2026-07-20T13:19:19Z</dcterms:modified>
</cp:coreProperties>
</file>